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7" r:id="rId4"/>
  </p:sldMasterIdLst>
  <p:notesMasterIdLst>
    <p:notesMasterId r:id="rId16"/>
  </p:notesMasterIdLst>
  <p:handoutMasterIdLst>
    <p:handoutMasterId r:id="rId17"/>
  </p:handoutMasterIdLst>
  <p:sldIdLst>
    <p:sldId id="284" r:id="rId5"/>
    <p:sldId id="376" r:id="rId6"/>
    <p:sldId id="383" r:id="rId7"/>
    <p:sldId id="352" r:id="rId8"/>
    <p:sldId id="377" r:id="rId9"/>
    <p:sldId id="378" r:id="rId10"/>
    <p:sldId id="379" r:id="rId11"/>
    <p:sldId id="380" r:id="rId12"/>
    <p:sldId id="381" r:id="rId13"/>
    <p:sldId id="382" r:id="rId14"/>
    <p:sldId id="371" r:id="rId15"/>
  </p:sldIdLst>
  <p:sldSz cx="9144000" cy="6858000" type="screen4x3"/>
  <p:notesSz cx="7315200" cy="96012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4FF"/>
    <a:srgbClr val="A2C02F"/>
    <a:srgbClr val="FF8100"/>
    <a:srgbClr val="F7943D"/>
    <a:srgbClr val="83BC00"/>
    <a:srgbClr val="19ABA8"/>
    <a:srgbClr val="003865"/>
    <a:srgbClr val="3B0F52"/>
    <a:srgbClr val="003A5B"/>
    <a:srgbClr val="ECF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8" autoAdjust="0"/>
    <p:restoredTop sz="94280" autoAdjust="0"/>
  </p:normalViewPr>
  <p:slideViewPr>
    <p:cSldViewPr snapToGrid="0" snapToObjects="1">
      <p:cViewPr varScale="1">
        <p:scale>
          <a:sx n="70" d="100"/>
          <a:sy n="70" d="100"/>
        </p:scale>
        <p:origin x="137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5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-1902" y="-7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EA3CCD2-BD0D-094E-A0FA-0530B81593EB}" type="datetimeFigureOut">
              <a:rPr lang="es-ES" smtClean="0"/>
              <a:t>23/07/2020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480143D-412D-F94D-8D31-F82723A3DDD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95337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144F531-C117-EE49-B12E-942DE8F1EF44}" type="datetimeFigureOut">
              <a:rPr lang="es-ES" smtClean="0"/>
              <a:t>23/07/2020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A23F4FF-9E5A-CF46-B2F0-011E9D2BAC1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90847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668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3021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591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1258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1849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2308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7071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baseline="0" dirty="0"/>
              <a:t>Indicadores y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</a:p>
          <a:p>
            <a:endParaRPr lang="es-CO" baseline="0" dirty="0"/>
          </a:p>
          <a:p>
            <a:r>
              <a:rPr lang="es-CO" baseline="0" dirty="0"/>
              <a:t>Indicador Global: Los resultados de Indicadores y ANS.</a:t>
            </a:r>
          </a:p>
          <a:p>
            <a:r>
              <a:rPr lang="es-CO" dirty="0"/>
              <a:t>Métricas</a:t>
            </a:r>
            <a:r>
              <a:rPr lang="es-CO" baseline="0" dirty="0"/>
              <a:t> Operacionales: Lo resultados generales de incidentes y requerimientos (totales).</a:t>
            </a:r>
          </a:p>
          <a:p>
            <a:r>
              <a:rPr lang="es-CO" baseline="0" dirty="0"/>
              <a:t>Indicadores de Desempeño: </a:t>
            </a:r>
            <a:r>
              <a:rPr lang="es-CO" baseline="0" dirty="0" err="1"/>
              <a:t>KPIs</a:t>
            </a:r>
            <a:r>
              <a:rPr lang="es-CO" baseline="0" dirty="0"/>
              <a:t> generales del servicio.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23F4FF-9E5A-CF46-B2F0-011E9D2BAC1E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4245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0281" cy="6858779"/>
          </a:xfrm>
          <a:prstGeom prst="rect">
            <a:avLst/>
          </a:prstGeom>
        </p:spPr>
      </p:pic>
      <p:sp>
        <p:nvSpPr>
          <p:cNvPr id="7" name="6 Rectángulo"/>
          <p:cNvSpPr/>
          <p:nvPr userDrawn="1"/>
        </p:nvSpPr>
        <p:spPr>
          <a:xfrm>
            <a:off x="-14518" y="0"/>
            <a:ext cx="9158518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11 Imag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166" y="277177"/>
            <a:ext cx="4298446" cy="1929600"/>
          </a:xfrm>
          <a:prstGeom prst="rect">
            <a:avLst/>
          </a:prstGeom>
        </p:spPr>
      </p:pic>
      <p:sp>
        <p:nvSpPr>
          <p:cNvPr id="19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rgbClr val="003865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20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rgbClr val="00386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21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22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3" name="22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rgbClr val="003865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rgbClr val="003865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rgbClr val="003865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rgbClr val="003865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rgbClr val="003865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rgbClr val="003865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36493359"/>
      </p:ext>
    </p:extLst>
  </p:cSld>
  <p:clrMapOvr>
    <a:masterClrMapping/>
  </p:clrMapOvr>
  <p:transition spd="slow">
    <p:strips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7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78" y="277177"/>
            <a:ext cx="4309423" cy="192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1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13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4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  <p:sp>
        <p:nvSpPr>
          <p:cNvPr id="15" name="14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chemeClr val="bg1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86691074"/>
      </p:ext>
    </p:extLst>
  </p:cSld>
  <p:clrMapOvr>
    <a:masterClrMapping/>
  </p:clrMapOvr>
  <p:transition spd="slow">
    <p:strips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8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961" y="5879690"/>
            <a:ext cx="1888333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dondear rectángulo de esquina diagonal"/>
          <p:cNvSpPr/>
          <p:nvPr userDrawn="1"/>
        </p:nvSpPr>
        <p:spPr>
          <a:xfrm>
            <a:off x="-304800" y="-464457"/>
            <a:ext cx="8998857" cy="5936343"/>
          </a:xfrm>
          <a:prstGeom prst="round2Diag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415692"/>
            <a:ext cx="8039099" cy="101304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</a:t>
            </a:r>
            <a:br>
              <a:rPr lang="es-ES_tradnl" dirty="0"/>
            </a:b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2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62755798"/>
      </p:ext>
    </p:extLst>
  </p:cSld>
  <p:clrMapOvr>
    <a:masterClrMapping/>
  </p:clrMapOvr>
  <p:transition spd="slow">
    <p:strips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0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4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78" y="277177"/>
            <a:ext cx="4309423" cy="192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20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2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2" name="21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chemeClr val="bg1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245404435"/>
      </p:ext>
    </p:extLst>
  </p:cSld>
  <p:clrMapOvr>
    <a:masterClrMapping/>
  </p:clrMapOvr>
  <p:transition spd="slow">
    <p:strips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0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8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961" y="5879690"/>
            <a:ext cx="1888333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dondear rectángulo de esquina diagonal"/>
          <p:cNvSpPr/>
          <p:nvPr userDrawn="1"/>
        </p:nvSpPr>
        <p:spPr>
          <a:xfrm>
            <a:off x="-304800" y="-464457"/>
            <a:ext cx="8998857" cy="5936343"/>
          </a:xfrm>
          <a:prstGeom prst="round2Diag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415692"/>
            <a:ext cx="8039099" cy="101304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</a:t>
            </a:r>
            <a:br>
              <a:rPr lang="es-ES_tradnl" dirty="0"/>
            </a:b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2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75742499"/>
      </p:ext>
    </p:extLst>
  </p:cSld>
  <p:clrMapOvr>
    <a:masterClrMapping/>
  </p:clrMapOvr>
  <p:transition spd="slow">
    <p:strips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3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4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78" y="277177"/>
            <a:ext cx="4309423" cy="192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20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2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2" name="21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chemeClr val="bg1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70064883"/>
      </p:ext>
    </p:extLst>
  </p:cSld>
  <p:clrMapOvr>
    <a:masterClrMapping/>
  </p:clrMapOvr>
  <p:transition spd="slow">
    <p:strips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3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8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961" y="5879690"/>
            <a:ext cx="1888333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dondear rectángulo de esquina diagonal"/>
          <p:cNvSpPr/>
          <p:nvPr userDrawn="1"/>
        </p:nvSpPr>
        <p:spPr>
          <a:xfrm>
            <a:off x="-304800" y="-464457"/>
            <a:ext cx="8998857" cy="5936343"/>
          </a:xfrm>
          <a:prstGeom prst="round2Diag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415692"/>
            <a:ext cx="8039099" cy="101304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</a:t>
            </a:r>
            <a:br>
              <a:rPr lang="es-ES_tradnl" dirty="0"/>
            </a:b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2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44370209"/>
      </p:ext>
    </p:extLst>
  </p:cSld>
  <p:clrMapOvr>
    <a:masterClrMapping/>
  </p:clrMapOvr>
  <p:transition spd="slow">
    <p:strips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8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4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78" y="277177"/>
            <a:ext cx="4309423" cy="192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9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20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2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22" name="21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chemeClr val="bg1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32765924"/>
      </p:ext>
    </p:extLst>
  </p:cSld>
  <p:clrMapOvr>
    <a:masterClrMapping/>
  </p:clrMapOvr>
  <p:transition spd="slow">
    <p:strips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ió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8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8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961" y="5879690"/>
            <a:ext cx="1888333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dondear rectángulo de esquina diagonal"/>
          <p:cNvSpPr/>
          <p:nvPr userDrawn="1"/>
        </p:nvSpPr>
        <p:spPr>
          <a:xfrm>
            <a:off x="-304800" y="-464457"/>
            <a:ext cx="8998857" cy="5936343"/>
          </a:xfrm>
          <a:prstGeom prst="round2Diag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415692"/>
            <a:ext cx="8039099" cy="101304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</a:t>
            </a:r>
            <a:br>
              <a:rPr lang="es-ES_tradnl" dirty="0"/>
            </a:b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2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54334041"/>
      </p:ext>
    </p:extLst>
  </p:cSld>
  <p:clrMapOvr>
    <a:masterClrMapping/>
  </p:clrMapOvr>
  <p:transition spd="slow">
    <p:strips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78" y="277177"/>
            <a:ext cx="4309423" cy="192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ítulo 1"/>
          <p:cNvSpPr>
            <a:spLocks noGrp="1"/>
          </p:cNvSpPr>
          <p:nvPr>
            <p:ph type="title"/>
          </p:nvPr>
        </p:nvSpPr>
        <p:spPr>
          <a:xfrm>
            <a:off x="429437" y="3987800"/>
            <a:ext cx="8291482" cy="1362075"/>
          </a:xfrm>
        </p:spPr>
        <p:txBody>
          <a:bodyPr vert="horz" lIns="91440" tIns="45720" rIns="91440" bIns="45720" rtlCol="0" anchor="t" anchorCtr="0">
            <a:normAutofit/>
          </a:bodyPr>
          <a:lstStyle>
            <a:lvl1pPr algn="ctr">
              <a:defRPr lang="es-CO" sz="4000" u="none" kern="120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16" name="Marcador de texto 2"/>
          <p:cNvSpPr>
            <a:spLocks noGrp="1"/>
          </p:cNvSpPr>
          <p:nvPr>
            <p:ph type="body" idx="1"/>
          </p:nvPr>
        </p:nvSpPr>
        <p:spPr>
          <a:xfrm>
            <a:off x="429437" y="2487613"/>
            <a:ext cx="8291482" cy="1500187"/>
          </a:xfrm>
        </p:spPr>
        <p:txBody>
          <a:bodyPr anchor="b" anchorCtr="0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17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8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13817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9" name="18 CuadroTexto"/>
          <p:cNvSpPr txBox="1"/>
          <p:nvPr userDrawn="1"/>
        </p:nvSpPr>
        <p:spPr>
          <a:xfrm>
            <a:off x="0" y="6417829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chemeClr val="bg1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chemeClr val="bg1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chemeClr val="bg1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chemeClr val="bg1"/>
              </a:solidFill>
              <a:latin typeface="Trebuchet MS" pitchFamily="34" charset="0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244512222"/>
      </p:ext>
    </p:extLst>
  </p:cSld>
  <p:clrMapOvr>
    <a:masterClrMapping/>
  </p:clrMapOvr>
  <p:transition spd="slow">
    <p:strips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visió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2415692"/>
            <a:ext cx="8039099" cy="1013041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</a:t>
            </a:r>
            <a:br>
              <a:rPr lang="es-ES_tradnl" dirty="0"/>
            </a:b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pic>
        <p:nvPicPr>
          <p:cNvPr id="8" name="Picture 2" descr="C:\Users\julvarpe\Documents\Carvajal2\Logos y Fuentes\Logos Nuevos Finales\logos\RGB\Negativas\Horizontales\OC_Neg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961" y="5879690"/>
            <a:ext cx="1888333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dondear rectángulo de esquina diagonal"/>
          <p:cNvSpPr/>
          <p:nvPr userDrawn="1"/>
        </p:nvSpPr>
        <p:spPr>
          <a:xfrm>
            <a:off x="-304800" y="-464457"/>
            <a:ext cx="8998857" cy="5936343"/>
          </a:xfrm>
          <a:prstGeom prst="round2Diag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5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bg1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07793258"/>
      </p:ext>
    </p:extLst>
  </p:cSld>
  <p:clrMapOvr>
    <a:masterClrMapping/>
  </p:clrMapOvr>
  <p:transition spd="slow">
    <p:strips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6700" indent="-266700">
              <a:defRPr/>
            </a:lvl1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BB39C-A9A6-6748-8343-1901A9A9009D}" type="datetime1">
              <a:rPr lang="es-CO" smtClean="0"/>
              <a:t>23/07/2020</a:t>
            </a:fld>
            <a:endParaRPr lang="es-CO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81386084"/>
      </p:ext>
    </p:extLst>
  </p:cSld>
  <p:clrMapOvr>
    <a:masterClrMapping/>
  </p:clrMapOvr>
  <p:transition spd="slow"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4" name="2 Marcador de contenido"/>
          <p:cNvSpPr>
            <a:spLocks noGrp="1"/>
          </p:cNvSpPr>
          <p:nvPr>
            <p:ph idx="1"/>
          </p:nvPr>
        </p:nvSpPr>
        <p:spPr>
          <a:xfrm>
            <a:off x="457199" y="1078211"/>
            <a:ext cx="8229600" cy="677836"/>
          </a:xfrm>
        </p:spPr>
        <p:txBody>
          <a:bodyPr vert="horz" lIns="432000" tIns="183600" rIns="91440" bIns="0" rtlCol="0" anchor="t">
            <a:normAutofit/>
          </a:bodyPr>
          <a:lstStyle>
            <a:lvl1pPr marL="0" indent="0" algn="ctr">
              <a:spcBef>
                <a:spcPts val="600"/>
              </a:spcBef>
              <a:buNone/>
              <a:defRPr lang="es-ES" sz="2400" kern="1200" dirty="0" smtClean="0">
                <a:solidFill>
                  <a:srgbClr val="64B6E2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  <a:lvl2pPr>
              <a:defRPr lang="es-ES" dirty="0" smtClean="0"/>
            </a:lvl2pPr>
            <a:lvl3pPr>
              <a:defRPr lang="es-ES" dirty="0" smtClean="0"/>
            </a:lvl3pPr>
            <a:lvl4pPr>
              <a:defRPr lang="es-ES" dirty="0" smtClean="0"/>
            </a:lvl4pPr>
            <a:lvl5pPr>
              <a:defRPr lang="es-ES_tradnl" dirty="0"/>
            </a:lvl5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6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47449193"/>
      </p:ext>
    </p:extLst>
  </p:cSld>
  <p:clrMapOvr>
    <a:masterClrMapping/>
  </p:clrMapOvr>
  <p:transition spd="slow"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86254"/>
            <a:ext cx="4038600" cy="4619309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86254"/>
            <a:ext cx="4038600" cy="4619309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C4106-350C-854C-ACE5-EC0F79890131}" type="datetime1">
              <a:rPr lang="es-CO" smtClean="0"/>
              <a:t>23/07/2020</a:t>
            </a:fld>
            <a:endParaRPr lang="es-CO"/>
          </a:p>
        </p:txBody>
      </p:sp>
      <p:sp>
        <p:nvSpPr>
          <p:cNvPr id="10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8015274"/>
      </p:ext>
    </p:extLst>
  </p:cSld>
  <p:clrMapOvr>
    <a:masterClrMapping/>
  </p:clrMapOvr>
  <p:transition spd="slow"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43873"/>
            <a:ext cx="4040188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883635"/>
            <a:ext cx="4040188" cy="4030807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243873"/>
            <a:ext cx="4041775" cy="639762"/>
          </a:xfr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1883635"/>
            <a:ext cx="4041775" cy="4030807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0ABBB-088B-A04B-9A67-7ABFD51D2623}" type="datetime1">
              <a:rPr lang="es-CO" smtClean="0"/>
              <a:t>23/07/2020</a:t>
            </a:fld>
            <a:endParaRPr lang="es-CO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11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51704862"/>
      </p:ext>
    </p:extLst>
  </p:cSld>
  <p:clrMapOvr>
    <a:masterClrMapping/>
  </p:clrMapOvr>
  <p:transition spd="slow"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622783"/>
          </a:xfrm>
        </p:spPr>
        <p:txBody>
          <a:bodyPr>
            <a:normAutofit/>
          </a:bodyPr>
          <a:lstStyle>
            <a:lvl1pPr marL="266700" indent="-266700"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  <a:p>
            <a:pPr lvl="1"/>
            <a:r>
              <a:rPr lang="es-ES_tradnl" dirty="0" err="1"/>
              <a:t>Second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2"/>
            <a:r>
              <a:rPr lang="es-ES_tradnl" dirty="0" err="1"/>
              <a:t>Third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3"/>
            <a:r>
              <a:rPr lang="es-ES_tradnl" dirty="0" err="1"/>
              <a:t>Fourth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ES_tradnl" dirty="0"/>
          </a:p>
          <a:p>
            <a:pPr lvl="4"/>
            <a:r>
              <a:rPr lang="es-ES_tradnl" dirty="0" err="1"/>
              <a:t>Fifth</a:t>
            </a:r>
            <a:r>
              <a:rPr lang="es-ES_tradnl" dirty="0"/>
              <a:t> </a:t>
            </a:r>
            <a:r>
              <a:rPr lang="es-ES_tradnl" dirty="0" err="1"/>
              <a:t>level</a:t>
            </a:r>
            <a:endParaRPr lang="es-C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4607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8" name="Marcador de fecha 3"/>
          <p:cNvSpPr>
            <a:spLocks noGrp="1"/>
          </p:cNvSpPr>
          <p:nvPr>
            <p:ph type="dt" sz="half" idx="10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2654251"/>
      </p:ext>
    </p:extLst>
  </p:cSld>
  <p:clrMapOvr>
    <a:masterClrMapping/>
  </p:clrMapOvr>
  <p:transition spd="slow"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title</a:t>
            </a:r>
            <a:r>
              <a:rPr lang="es-ES_tradnl" dirty="0"/>
              <a:t> </a:t>
            </a:r>
            <a:r>
              <a:rPr lang="es-ES_tradnl" dirty="0" err="1"/>
              <a:t>style</a:t>
            </a:r>
            <a:endParaRPr lang="es-CO" dirty="0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dirty="0" err="1"/>
              <a:t>Drag</a:t>
            </a:r>
            <a:r>
              <a:rPr lang="es-ES_tradnl" dirty="0"/>
              <a:t> </a:t>
            </a:r>
            <a:r>
              <a:rPr lang="es-ES_tradnl" dirty="0" err="1"/>
              <a:t>picture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placeholder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icon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add</a:t>
            </a:r>
            <a:endParaRPr lang="es-CO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52849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5781-311D-4549-B63F-4A6A4F6D7C32}" type="datetime1">
              <a:rPr lang="es-CO" smtClean="0"/>
              <a:t>23/07/2020</a:t>
            </a:fld>
            <a:endParaRPr lang="es-CO"/>
          </a:p>
        </p:txBody>
      </p:sp>
      <p:sp>
        <p:nvSpPr>
          <p:cNvPr id="11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88868062"/>
      </p:ext>
    </p:extLst>
  </p:cSld>
  <p:clrMapOvr>
    <a:masterClrMapping/>
  </p:clrMapOvr>
  <p:transition spd="slow">
    <p:strips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4"/>
          <p:cNvSpPr>
            <a:spLocks noGrp="1"/>
          </p:cNvSpPr>
          <p:nvPr>
            <p:ph type="dt" sz="half" idx="10"/>
          </p:nvPr>
        </p:nvSpPr>
        <p:spPr>
          <a:xfrm>
            <a:off x="449111" y="6019559"/>
            <a:ext cx="998690" cy="365125"/>
          </a:xfrm>
        </p:spPr>
        <p:txBody>
          <a:bodyPr/>
          <a:lstStyle/>
          <a:p>
            <a:fld id="{65805781-311D-4549-B63F-4A6A4F6D7C32}" type="datetime1">
              <a:rPr lang="es-CO" smtClean="0"/>
              <a:t>23/07/2020</a:t>
            </a:fld>
            <a:endParaRPr lang="es-CO"/>
          </a:p>
        </p:txBody>
      </p:sp>
      <p:sp>
        <p:nvSpPr>
          <p:cNvPr id="5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33470092"/>
      </p:ext>
    </p:extLst>
  </p:cSld>
  <p:clrMapOvr>
    <a:masterClrMapping/>
  </p:clrMapOvr>
  <p:transition spd="slow">
    <p:strips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97068" y="3931569"/>
            <a:ext cx="3575493" cy="1590689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sz="1400">
                <a:solidFill>
                  <a:srgbClr val="003865"/>
                </a:solidFill>
                <a:latin typeface="Trebuchet MS"/>
                <a:cs typeface="Trebuchet MS"/>
              </a:defRPr>
            </a:lvl1pPr>
            <a:lvl2pPr>
              <a:buNone/>
              <a:defRPr>
                <a:solidFill>
                  <a:srgbClr val="FFFFFF"/>
                </a:solidFill>
              </a:defRPr>
            </a:lvl2pPr>
            <a:lvl3pPr>
              <a:buNone/>
              <a:defRPr>
                <a:solidFill>
                  <a:srgbClr val="FFFFFF"/>
                </a:solidFill>
              </a:defRPr>
            </a:lvl3pPr>
            <a:lvl4pPr>
              <a:buNone/>
              <a:defRPr>
                <a:solidFill>
                  <a:srgbClr val="FFFFFF"/>
                </a:solidFill>
              </a:defRPr>
            </a:lvl4pPr>
            <a:lvl5pPr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s-ES_tradnl" dirty="0" err="1"/>
              <a:t>Click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edit</a:t>
            </a:r>
            <a:r>
              <a:rPr lang="es-ES_tradnl" dirty="0"/>
              <a:t> Master </a:t>
            </a:r>
            <a:r>
              <a:rPr lang="es-ES_tradnl" dirty="0" err="1"/>
              <a:t>text</a:t>
            </a:r>
            <a:r>
              <a:rPr lang="es-ES_tradnl" dirty="0"/>
              <a:t> </a:t>
            </a:r>
            <a:r>
              <a:rPr lang="es-ES_tradnl" dirty="0" err="1"/>
              <a:t>styles</a:t>
            </a:r>
            <a:endParaRPr lang="es-ES_tradnl" dirty="0"/>
          </a:p>
        </p:txBody>
      </p:sp>
      <p:pic>
        <p:nvPicPr>
          <p:cNvPr id="17" name="Picture 2" descr="C:\Users\e-julvar\Documents\Carvajal2\Logos y Fuentes\nuevo cambio de logos\RGB\Positivas\Horizontales\OC_Pos_RGB_Hor_Tec&amp;Ser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7" y="508457"/>
            <a:ext cx="5211363" cy="233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17 Rectángulo"/>
          <p:cNvSpPr/>
          <p:nvPr userDrawn="1"/>
        </p:nvSpPr>
        <p:spPr>
          <a:xfrm>
            <a:off x="0" y="5740401"/>
            <a:ext cx="9144000" cy="11175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18 CuadroTexto"/>
          <p:cNvSpPr txBox="1"/>
          <p:nvPr userDrawn="1"/>
        </p:nvSpPr>
        <p:spPr>
          <a:xfrm>
            <a:off x="0" y="6404181"/>
            <a:ext cx="914399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Agilizamos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rentable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clientes</a:t>
            </a:r>
            <a:r>
              <a:rPr lang="es-CO" sz="1100" b="0" baseline="0" dirty="0">
                <a:solidFill>
                  <a:srgbClr val="003865"/>
                </a:solidFill>
                <a:latin typeface="Trebuchet MS" panose="020B0603020202020204" pitchFamily="34" charset="0"/>
              </a:rPr>
              <a:t> 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eficaz</a:t>
            </a:r>
            <a:r>
              <a:rPr lang="es-CO" sz="1100" dirty="0">
                <a:solidFill>
                  <a:srgbClr val="003865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1100" b="1" dirty="0">
                <a:solidFill>
                  <a:srgbClr val="003865"/>
                </a:solidFill>
                <a:latin typeface="Trebuchet MS" panose="020B0603020202020204" pitchFamily="34" charset="0"/>
              </a:rPr>
              <a:t>optimizados</a:t>
            </a:r>
          </a:p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rgbClr val="1F497D"/>
              </a:solidFill>
              <a:latin typeface="Trebuchet MS" pitchFamily="34" charset="0"/>
              <a:cs typeface="Trebuchet MS"/>
            </a:endParaRPr>
          </a:p>
        </p:txBody>
      </p:sp>
      <p:sp>
        <p:nvSpPr>
          <p:cNvPr id="14" name="Marcador de fecha 4"/>
          <p:cNvSpPr>
            <a:spLocks noGrp="1"/>
          </p:cNvSpPr>
          <p:nvPr>
            <p:ph type="dt" sz="half" idx="10"/>
          </p:nvPr>
        </p:nvSpPr>
        <p:spPr>
          <a:xfrm>
            <a:off x="449111" y="6019559"/>
            <a:ext cx="998690" cy="365125"/>
          </a:xfrm>
        </p:spPr>
        <p:txBody>
          <a:bodyPr/>
          <a:lstStyle/>
          <a:p>
            <a:fld id="{65805781-311D-4549-B63F-4A6A4F6D7C32}" type="datetime1">
              <a:rPr lang="es-CO" smtClean="0"/>
              <a:t>23/07/2020</a:t>
            </a:fld>
            <a:endParaRPr lang="es-CO"/>
          </a:p>
        </p:txBody>
      </p:sp>
      <p:sp>
        <p:nvSpPr>
          <p:cNvPr id="15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25359221"/>
      </p:ext>
    </p:extLst>
  </p:cSld>
  <p:clrMapOvr>
    <a:masterClrMapping/>
  </p:clrMapOvr>
  <p:transition spd="slow">
    <p:strips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880281" cy="365125"/>
          </a:xfrm>
        </p:spPr>
        <p:txBody>
          <a:bodyPr/>
          <a:lstStyle/>
          <a:p>
            <a:fld id="{A710F21D-6F93-4916-A22C-6A6E2A8E3105}" type="datetime1">
              <a:rPr lang="es-CO" smtClean="0"/>
              <a:t>23/07/2020</a:t>
            </a:fld>
            <a:endParaRPr lang="es-CO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8217-8972-0044-8E75-ABBA1EBD945C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1179209"/>
      </p:ext>
    </p:extLst>
  </p:cSld>
  <p:clrMapOvr>
    <a:masterClrMapping/>
  </p:clrMapOvr>
  <p:transition spd="slow">
    <p:strips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7357730" y="5914443"/>
            <a:ext cx="1786270" cy="943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8" name="Picture 2" descr="C:\Users\e-julvar\Documents\Carvajal2\Logos y Fuentes\nuevo cambio de logos\RGB\Positivas\Horizontales\OC_Pos_RGB_Hor_Tec&amp;Ser.png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447" y="5879690"/>
            <a:ext cx="1882848" cy="845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49111" y="1319514"/>
            <a:ext cx="8229600" cy="4594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  <a:endParaRPr lang="es-CO" dirty="0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49111" y="26613"/>
            <a:ext cx="8229600" cy="1013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/>
              <a:t>Clic para editar título</a:t>
            </a:r>
            <a:endParaRPr lang="es-CO" dirty="0"/>
          </a:p>
        </p:txBody>
      </p:sp>
      <p:sp>
        <p:nvSpPr>
          <p:cNvPr id="11" name="10 CuadroTexto"/>
          <p:cNvSpPr txBox="1"/>
          <p:nvPr/>
        </p:nvSpPr>
        <p:spPr>
          <a:xfrm>
            <a:off x="449111" y="6404181"/>
            <a:ext cx="6579486" cy="413511"/>
          </a:xfrm>
          <a:prstGeom prst="rect">
            <a:avLst/>
          </a:prstGeom>
          <a:noFill/>
        </p:spPr>
        <p:txBody>
          <a:bodyPr wrap="square" tIns="46800" rtlCol="0">
            <a:spAutoFit/>
          </a:bodyPr>
          <a:lstStyle/>
          <a:p>
            <a:pPr algn="l"/>
            <a:r>
              <a:rPr lang="es-CO" sz="980" b="1" dirty="0">
                <a:solidFill>
                  <a:srgbClr val="003865"/>
                </a:solidFill>
                <a:latin typeface="Trebuchet MS" panose="020B0603020202020204" pitchFamily="34" charset="0"/>
              </a:rPr>
              <a:t>Agilizamos</a:t>
            </a:r>
            <a:r>
              <a:rPr lang="es-CO" sz="980" dirty="0">
                <a:solidFill>
                  <a:srgbClr val="003865"/>
                </a:solidFill>
                <a:latin typeface="Trebuchet MS" panose="020B0603020202020204" pitchFamily="34" charset="0"/>
              </a:rPr>
              <a:t> el crecimiento </a:t>
            </a:r>
            <a:r>
              <a:rPr lang="es-CO" sz="980" b="1" dirty="0">
                <a:solidFill>
                  <a:srgbClr val="003865"/>
                </a:solidFill>
                <a:latin typeface="Trebuchet MS" panose="020B0603020202020204" pitchFamily="34" charset="0"/>
              </a:rPr>
              <a:t>rentable</a:t>
            </a:r>
            <a:r>
              <a:rPr lang="es-CO" sz="980" dirty="0">
                <a:solidFill>
                  <a:srgbClr val="003865"/>
                </a:solidFill>
                <a:latin typeface="Trebuchet MS" panose="020B0603020202020204" pitchFamily="34" charset="0"/>
              </a:rPr>
              <a:t> de nuestros </a:t>
            </a:r>
            <a:r>
              <a:rPr lang="es-CO" sz="980" b="1" dirty="0">
                <a:solidFill>
                  <a:srgbClr val="003865"/>
                </a:solidFill>
                <a:latin typeface="Trebuchet MS" panose="020B0603020202020204" pitchFamily="34" charset="0"/>
              </a:rPr>
              <a:t>clientes</a:t>
            </a:r>
            <a:r>
              <a:rPr lang="es-CO" sz="980" b="0" baseline="0" dirty="0">
                <a:solidFill>
                  <a:srgbClr val="003865"/>
                </a:solidFill>
                <a:latin typeface="Trebuchet MS" panose="020B0603020202020204" pitchFamily="34" charset="0"/>
              </a:rPr>
              <a:t> </a:t>
            </a:r>
            <a:r>
              <a:rPr lang="es-CO" sz="980" dirty="0">
                <a:solidFill>
                  <a:srgbClr val="003865"/>
                </a:solidFill>
                <a:latin typeface="Trebuchet MS" panose="020B0603020202020204" pitchFamily="34" charset="0"/>
              </a:rPr>
              <a:t>a través de un manejo </a:t>
            </a:r>
            <a:r>
              <a:rPr lang="es-CO" sz="980" b="1" dirty="0">
                <a:solidFill>
                  <a:srgbClr val="003865"/>
                </a:solidFill>
                <a:latin typeface="Trebuchet MS" panose="020B0603020202020204" pitchFamily="34" charset="0"/>
              </a:rPr>
              <a:t>eficaz</a:t>
            </a:r>
            <a:r>
              <a:rPr lang="es-CO" sz="980" dirty="0">
                <a:solidFill>
                  <a:srgbClr val="003865"/>
                </a:solidFill>
                <a:latin typeface="Trebuchet MS" panose="020B0603020202020204" pitchFamily="34" charset="0"/>
              </a:rPr>
              <a:t> de procesos </a:t>
            </a:r>
            <a:r>
              <a:rPr lang="es-CO" sz="980" b="1" dirty="0">
                <a:solidFill>
                  <a:srgbClr val="003865"/>
                </a:solidFill>
                <a:latin typeface="Trebuchet MS" panose="020B0603020202020204" pitchFamily="34" charset="0"/>
              </a:rPr>
              <a:t>optimizados</a:t>
            </a:r>
          </a:p>
          <a:p>
            <a:pPr algn="l"/>
            <a:endParaRPr lang="es-CO" sz="200" b="1" dirty="0">
              <a:solidFill>
                <a:srgbClr val="003865"/>
              </a:solidFill>
              <a:latin typeface="Trebuchet MS" panose="020B0603020202020204" pitchFamily="34" charset="0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80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Confidencial // No reproducir</a:t>
            </a:r>
            <a:r>
              <a:rPr lang="es-CO" sz="800" baseline="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 sin autorización especial de </a:t>
            </a:r>
            <a:r>
              <a:rPr lang="es-CO" sz="80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Carvajal Tecnología</a:t>
            </a:r>
            <a:r>
              <a:rPr lang="es-CO" sz="800" baseline="0" noProof="0" dirty="0">
                <a:solidFill>
                  <a:srgbClr val="1F497D"/>
                </a:solidFill>
                <a:latin typeface="Trebuchet MS" pitchFamily="34" charset="0"/>
                <a:cs typeface="Trebuchet MS"/>
              </a:rPr>
              <a:t> y Servicios</a:t>
            </a:r>
            <a:endParaRPr lang="es-CO" sz="800" noProof="0" dirty="0">
              <a:solidFill>
                <a:srgbClr val="1F497D"/>
              </a:solidFill>
              <a:latin typeface="Trebuchet MS" pitchFamily="34" charset="0"/>
              <a:cs typeface="Trebuchet MS"/>
            </a:endParaRP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49111" y="6019559"/>
            <a:ext cx="998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554CF716-27A3-B741-87A8-B51A066E9150}" type="datetime1">
              <a:rPr lang="es-CO" smtClean="0"/>
              <a:pPr/>
              <a:t>23/07/2020</a:t>
            </a:fld>
            <a:endParaRPr lang="es-CO" dirty="0"/>
          </a:p>
        </p:txBody>
      </p:sp>
      <p:sp>
        <p:nvSpPr>
          <p:cNvPr id="12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3975530" y="6019559"/>
            <a:ext cx="58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rgbClr val="003865"/>
                </a:solidFill>
                <a:latin typeface="Trebuchet MS" pitchFamily="34" charset="0"/>
                <a:cs typeface="Trebuchet MS" pitchFamily="34" charset="0"/>
              </a:defRPr>
            </a:lvl1pPr>
          </a:lstStyle>
          <a:p>
            <a:fld id="{D4518217-8972-0044-8E75-ABBA1EBD945C}" type="slidenum">
              <a:rPr lang="es-CO" smtClean="0"/>
              <a:pPr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6063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679" r:id="rId2"/>
    <p:sldLayoutId id="2147483681" r:id="rId3"/>
    <p:sldLayoutId id="2147483690" r:id="rId4"/>
    <p:sldLayoutId id="2147483691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680" r:id="rId12"/>
    <p:sldLayoutId id="2147483682" r:id="rId13"/>
    <p:sldLayoutId id="2147483684" r:id="rId14"/>
    <p:sldLayoutId id="2147483685" r:id="rId15"/>
    <p:sldLayoutId id="2147483686" r:id="rId16"/>
    <p:sldLayoutId id="2147483687" r:id="rId17"/>
    <p:sldLayoutId id="2147483678" r:id="rId18"/>
    <p:sldLayoutId id="2147483689" r:id="rId19"/>
    <p:sldLayoutId id="2147483705" r:id="rId20"/>
  </p:sldLayoutIdLst>
  <p:transition spd="slow">
    <p:strips dir="rd"/>
  </p:transition>
  <p:hf hdr="0" ftr="0"/>
  <p:txStyles>
    <p:titleStyle>
      <a:lvl1pPr algn="l" defTabSz="457200" rtl="0" eaLnBrk="1" latinLnBrk="0" hangingPunct="1">
        <a:spcBef>
          <a:spcPct val="0"/>
        </a:spcBef>
        <a:buNone/>
        <a:defRPr lang="es-CO" sz="3600" b="1" kern="1200" dirty="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1pPr>
    </p:titleStyle>
    <p:bodyStyle>
      <a:lvl1pPr marL="266700" indent="-26670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•"/>
        <a:defRPr sz="1800" kern="120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1pPr>
      <a:lvl2pPr marL="742950" indent="-28575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2pPr>
      <a:lvl3pPr marL="11430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•"/>
        <a:defRPr sz="1400" kern="120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3pPr>
      <a:lvl4pPr marL="16002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200" kern="120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4pPr>
      <a:lvl5pPr marL="2057400" indent="-228600" algn="l" defTabSz="4572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200" kern="1200">
          <a:solidFill>
            <a:srgbClr val="003865"/>
          </a:solidFill>
          <a:latin typeface="Trebuchet MS" pitchFamily="34" charset="0"/>
          <a:ea typeface="Verdana" pitchFamily="34" charset="0"/>
          <a:cs typeface="Verdana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61 Marcador de texto"/>
          <p:cNvSpPr>
            <a:spLocks noGrp="1"/>
          </p:cNvSpPr>
          <p:nvPr>
            <p:ph type="body" idx="1"/>
          </p:nvPr>
        </p:nvSpPr>
        <p:spPr>
          <a:xfrm>
            <a:off x="339285" y="3169554"/>
            <a:ext cx="8291482" cy="150018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s-CO" sz="4000" b="1" dirty="0" smtClean="0"/>
              <a:t>Desarrollo de Aplicaciones a través del Developer Kit</a:t>
            </a:r>
            <a:endParaRPr lang="es-CO" sz="4000" b="1" dirty="0"/>
          </a:p>
        </p:txBody>
      </p:sp>
    </p:spTree>
    <p:extLst>
      <p:ext uri="{BB962C8B-B14F-4D97-AF65-F5344CB8AC3E}">
        <p14:creationId xmlns:p14="http://schemas.microsoft.com/office/powerpoint/2010/main" val="1704795031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18217-8972-0044-8E75-ABBA1EBD945C}" type="slidenum">
              <a:rPr lang="es-CO" smtClean="0"/>
              <a:t>2</a:t>
            </a:fld>
            <a:endParaRPr lang="es-CO" dirty="0"/>
          </a:p>
        </p:txBody>
      </p:sp>
      <p:sp>
        <p:nvSpPr>
          <p:cNvPr id="5" name="CuadroTexto 4"/>
          <p:cNvSpPr txBox="1"/>
          <p:nvPr/>
        </p:nvSpPr>
        <p:spPr>
          <a:xfrm>
            <a:off x="663648" y="1795078"/>
            <a:ext cx="8782104" cy="3859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Multiplataforma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Interacción amigable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Flexibilidad de desarrollo 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Generación de flujos de impresión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Generación de flujos documentales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Extracción de la información básica de la MFP</a:t>
            </a: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s-ES" sz="2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Desarrollos basados en metodología </a:t>
            </a:r>
            <a:r>
              <a:rPr lang="es-ES" sz="24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Scrum</a:t>
            </a:r>
            <a:r>
              <a:rPr lang="es-ES" sz="240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s-E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497681" y="713494"/>
            <a:ext cx="8127241" cy="879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s-CO" sz="3600" b="1" kern="1200" dirty="0">
                <a:solidFill>
                  <a:srgbClr val="003865"/>
                </a:solidFill>
                <a:latin typeface="Trebuchet MS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algn="ctr"/>
            <a:r>
              <a:rPr lang="es-CO" sz="3200" dirty="0" smtClean="0"/>
              <a:t>Desarrollo de Apps.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2557610999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Interfaz de Usuario</a:t>
            </a:r>
            <a:endParaRPr lang="es-CO" sz="32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817" y="1335736"/>
            <a:ext cx="5850005" cy="412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53117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Encuesta de servicio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27656" y="1446035"/>
            <a:ext cx="7952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Su funcionamiento se basa en la recolección de información concerniente a un entorno particular, en este caso el nivel de servicio que tiene las impresoras y la percepción de su funcionamiento 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448" y="3143250"/>
            <a:ext cx="1848608" cy="209645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06" y="2460595"/>
            <a:ext cx="4358694" cy="322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85519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Encuesta de servicio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27656" y="1210388"/>
            <a:ext cx="7952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Cuenta también con una pantalla en el navegador que permite consultar los datos en tiempo real, dando a conocer una proyección de lo que sucede con el servicio , además de permitir el descargue de los gráficos para sus presentaciones y demás.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386" y="2423159"/>
            <a:ext cx="6598753" cy="34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147039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Recolección de Tóner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27656" y="1210388"/>
            <a:ext cx="7952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Recolección de Suministros Tóner es una aplicación en la cual el usuario podrá ingresar la cantidad de suministros tóner desocupados que se encuentran en el área y que estén ocupando un espacio en ella ,aparte de esto, contribuirá con el proceso de reciclaje de estos suministros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57" y="2567867"/>
            <a:ext cx="4324404" cy="30395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652" y="2960370"/>
            <a:ext cx="2439605" cy="223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258708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Capacitación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27656" y="1210388"/>
            <a:ext cx="79527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Capacitación Carvajal es una aplicación en la cual los usuarios podrán conocer más sobre el uso adecuado de la multifuncional y con ello evitar posibles fallas. Esta aplicación cuenta con una serie de imágenes ,las cuales ayudaran a tener una mayor comprensión sobre las buenas practicas que se deben tener en el uso de la multifuncional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64" y="2773918"/>
            <a:ext cx="4507284" cy="316896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377" y="3181378"/>
            <a:ext cx="2901337" cy="261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23657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/>
              <a:t>Certificaciones Laborales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727656" y="1210388"/>
            <a:ext cx="79527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Certificaciones Laboral es una aplicación en la cual podrá enlazarse a una base de datos y extraer la información necesaria para generar algún tipo de documento ,carta o certificado que sean necesarios para cualquier proceso interno o externo de la empresa según su necesidad.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2720340"/>
            <a:ext cx="3852408" cy="286893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2911" y="3041438"/>
            <a:ext cx="2376660" cy="25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04271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Carpeta Compartida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727656" y="1210388"/>
            <a:ext cx="7952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dirty="0" smtClean="0">
                <a:latin typeface="Calibri" panose="020F0502020204030204" pitchFamily="34" charset="0"/>
                <a:cs typeface="Calibri" panose="020F0502020204030204" pitchFamily="34" charset="0"/>
              </a:rPr>
              <a:t>Creada para gestionar diferentes documentos según la necesidad del cliente , donde se listan y posteriormente se pueden imprimir ,guardando un registro de los documentos.</a:t>
            </a:r>
            <a:endParaRPr lang="es-CO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801" y="3153726"/>
            <a:ext cx="2432127" cy="21717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720339"/>
            <a:ext cx="4223363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91941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457200" y="244711"/>
            <a:ext cx="8127241" cy="879475"/>
          </a:xfrm>
        </p:spPr>
        <p:txBody>
          <a:bodyPr>
            <a:noAutofit/>
          </a:bodyPr>
          <a:lstStyle/>
          <a:p>
            <a:pPr algn="ctr"/>
            <a:r>
              <a:rPr lang="es-CO" sz="3200" dirty="0" smtClean="0"/>
              <a:t>Digitalización a red 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631738" y="1210388"/>
            <a:ext cx="79527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dirty="0" smtClean="0">
                <a:latin typeface="Calibri" panose="020F0502020204030204" pitchFamily="34" charset="0"/>
                <a:cs typeface="Calibri" panose="020F0502020204030204" pitchFamily="34" charset="0"/>
              </a:rPr>
              <a:t>Aplicación que gestiona flujos de trabajo de digitalización, obteniendo capacidades adicionales como , corrección de bordes ,eliminación de paginas en blanco y confirmación de eventos por correo electrónico.  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444433"/>
            <a:ext cx="4686300" cy="337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324914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6557" y="3306762"/>
            <a:ext cx="8291482" cy="1362075"/>
          </a:xfrm>
        </p:spPr>
        <p:txBody>
          <a:bodyPr/>
          <a:lstStyle/>
          <a:p>
            <a:r>
              <a:rPr lang="es-CO" dirty="0" smtClean="0"/>
              <a:t>Gracias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03587379"/>
      </p:ext>
    </p:extLst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Personalizado 2">
      <a:dk1>
        <a:srgbClr val="003865"/>
      </a:dk1>
      <a:lt1>
        <a:sysClr val="window" lastClr="FFFFFF"/>
      </a:lt1>
      <a:dk2>
        <a:srgbClr val="003865"/>
      </a:dk2>
      <a:lt2>
        <a:srgbClr val="ECF0E0"/>
      </a:lt2>
      <a:accent1>
        <a:srgbClr val="00B0E0"/>
      </a:accent1>
      <a:accent2>
        <a:srgbClr val="DE6D27"/>
      </a:accent2>
      <a:accent3>
        <a:srgbClr val="00723F"/>
      </a:accent3>
      <a:accent4>
        <a:srgbClr val="6950A1"/>
      </a:accent4>
      <a:accent5>
        <a:srgbClr val="5E2A78"/>
      </a:accent5>
      <a:accent6>
        <a:srgbClr val="F79646"/>
      </a:accent6>
      <a:hlink>
        <a:srgbClr val="A2C02F"/>
      </a:hlink>
      <a:folHlink>
        <a:srgbClr val="6950A1"/>
      </a:folHlink>
    </a:clrScheme>
    <a:fontScheme name="Personalizado 1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4C828A11795E4E8EE62F86250430A4" ma:contentTypeVersion="" ma:contentTypeDescription="Crear nuevo documento." ma:contentTypeScope="" ma:versionID="9c716774ecab3203d4a93a9c36dbbae5">
  <xsd:schema xmlns:xsd="http://www.w3.org/2001/XMLSchema" xmlns:xs="http://www.w3.org/2001/XMLSchema" xmlns:p="http://schemas.microsoft.com/office/2006/metadata/properties" xmlns:ns2="f31d843d-e58e-441d-8ee6-9fdb31606a86" xmlns:ns3="0d52ab47-57f1-475e-9821-ecd1f702c8d0" targetNamespace="http://schemas.microsoft.com/office/2006/metadata/properties" ma:root="true" ma:fieldsID="23fbe0b5e74dc7f2d89ca482ed64943e" ns2:_="" ns3:_="">
    <xsd:import namespace="f31d843d-e58e-441d-8ee6-9fdb31606a86"/>
    <xsd:import namespace="0d52ab47-57f1-475e-9821-ecd1f702c8d0"/>
    <xsd:element name="properties">
      <xsd:complexType>
        <xsd:sequence>
          <xsd:element name="documentManagement">
            <xsd:complexType>
              <xsd:all>
                <xsd:element ref="ns2:Tipo_x0020_de_x0020_Documento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1d843d-e58e-441d-8ee6-9fdb31606a86" elementFormDefault="qualified">
    <xsd:import namespace="http://schemas.microsoft.com/office/2006/documentManagement/types"/>
    <xsd:import namespace="http://schemas.microsoft.com/office/infopath/2007/PartnerControls"/>
    <xsd:element name="Tipo_x0020_de_x0020_Documento" ma:index="8" nillable="true" ma:displayName="Tipo de Documento" ma:description="Caracterización, Documentación, Artefacto, Capacitación, Indicador, Política" ma:internalName="Tipo_x0020_de_x0020_Docu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52ab47-57f1-475e-9821-ecd1f702c8d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d52ab47-57f1-475e-9821-ecd1f702c8d0">
      <UserInfo>
        <DisplayName>Parra Romero Lorena</DisplayName>
        <AccountId>1226</AccountId>
        <AccountType/>
      </UserInfo>
    </SharedWithUsers>
    <Tipo_x0020_de_x0020_Documento xmlns="f31d843d-e58e-441d-8ee6-9fdb31606a86">Artefacto</Tipo_x0020_de_x0020_Documento>
  </documentManagement>
</p:properties>
</file>

<file path=customXml/itemProps1.xml><?xml version="1.0" encoding="utf-8"?>
<ds:datastoreItem xmlns:ds="http://schemas.openxmlformats.org/officeDocument/2006/customXml" ds:itemID="{29DD127C-9953-4A16-9109-B108517030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2ED4A0-BA3B-400E-AF98-65EDA0D83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1d843d-e58e-441d-8ee6-9fdb31606a86"/>
    <ds:schemaRef ds:uri="0d52ab47-57f1-475e-9821-ecd1f702c8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E77120-69EA-4EA0-9598-F09E4CF4B24A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dcmitype/"/>
    <ds:schemaRef ds:uri="f31d843d-e58e-441d-8ee6-9fdb31606a86"/>
    <ds:schemaRef ds:uri="0d52ab47-57f1-475e-9821-ecd1f702c8d0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40953</TotalTime>
  <Words>670</Words>
  <Application>Microsoft Office PowerPoint</Application>
  <PresentationFormat>Presentación en pantalla (4:3)</PresentationFormat>
  <Paragraphs>74</Paragraphs>
  <Slides>11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Verdana</vt:lpstr>
      <vt:lpstr>Default Theme</vt:lpstr>
      <vt:lpstr>Presentación de PowerPoint</vt:lpstr>
      <vt:lpstr>Presentación de PowerPoint</vt:lpstr>
      <vt:lpstr>Interfaz de Usuario</vt:lpstr>
      <vt:lpstr>Encuesta de servicio</vt:lpstr>
      <vt:lpstr>Encuesta de servicio</vt:lpstr>
      <vt:lpstr>Recolección de Tóner</vt:lpstr>
      <vt:lpstr>Capacitación</vt:lpstr>
      <vt:lpstr>Certificaciones Laborales</vt:lpstr>
      <vt:lpstr>Carpeta Compartida</vt:lpstr>
      <vt:lpstr>Digitalización a red </vt:lpstr>
      <vt:lpstr>Gracias</vt:lpstr>
    </vt:vector>
  </TitlesOfParts>
  <Company>Carvajal Tecnología y Servicios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de Informe de Gestión Gerencial</dc:title>
  <dc:creator>Mercadeo</dc:creator>
  <cp:lastModifiedBy>Sanchez Mahecha Esneyder</cp:lastModifiedBy>
  <cp:revision>1374</cp:revision>
  <cp:lastPrinted>2017-06-08T14:09:38Z</cp:lastPrinted>
  <dcterms:created xsi:type="dcterms:W3CDTF">2013-03-08T13:32:26Z</dcterms:created>
  <dcterms:modified xsi:type="dcterms:W3CDTF">2020-07-23T21:45:49Z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0x0101008E4C828A11795E4E8EE62F86250430A4</vt:lpwstr>
  </property>
</Properties>
</file>