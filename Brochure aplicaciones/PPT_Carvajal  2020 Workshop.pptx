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9" r:id="rId3"/>
    <p:sldId id="288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0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 userDrawn="1">
          <p15:clr>
            <a:srgbClr val="A4A3A4"/>
          </p15:clr>
        </p15:guide>
        <p15:guide id="2" pos="302" userDrawn="1">
          <p15:clr>
            <a:srgbClr val="A4A3A4"/>
          </p15:clr>
        </p15:guide>
        <p15:guide id="3" orient="horz" pos="1638" userDrawn="1">
          <p15:clr>
            <a:srgbClr val="A4A3A4"/>
          </p15:clr>
        </p15:guide>
        <p15:guide id="4" pos="2729" userDrawn="1">
          <p15:clr>
            <a:srgbClr val="A4A3A4"/>
          </p15:clr>
        </p15:guide>
        <p15:guide id="5" pos="73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387"/>
    <a:srgbClr val="00BDE7"/>
    <a:srgbClr val="ECECEC"/>
    <a:srgbClr val="F583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172"/>
      </p:cViewPr>
      <p:guideLst>
        <p:guide orient="horz" pos="346"/>
        <p:guide pos="302"/>
        <p:guide orient="horz" pos="1638"/>
        <p:guide pos="2729"/>
        <p:guide pos="73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4082D-1A45-4AD4-8AC9-3AF5066816CD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C80CF-DF8F-42B0-8716-509224B657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2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DD2F852-071E-2842-9028-8E7B1CF9B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7B88EB74-1678-794A-BC44-EAD61FCB7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64702DB9-8580-344C-8A35-2B4EC6F63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D229-D46D-8C4F-9E7E-BF46714ACCE8}" type="datetimeFigureOut">
              <a:rPr lang="es-CO" smtClean="0"/>
              <a:t>5/06/2020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52864E33-0E7F-394F-BE2F-4F9DFE2A3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5F434685-BC89-D641-A5EB-4DF974C56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E473-87A5-834B-91DC-4251BFCCAA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7957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D359EE06-2DF0-7C46-8798-2A804ED14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DE7B93E7-A652-5D4E-8EFE-01FA48241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9CE3CE62-52B7-AE44-9424-F59754DB4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D229-D46D-8C4F-9E7E-BF46714ACCE8}" type="datetimeFigureOut">
              <a:rPr lang="es-CO" smtClean="0"/>
              <a:t>5/06/2020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8BE94D0E-3DEF-8B43-AFBD-C0C3428B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F04928F2-C4E9-6144-B8DE-2AEE491CC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E473-87A5-834B-91DC-4251BFCCAA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0780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7CEF760-66F2-E140-B845-96FEFA624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F56F3E80-BC03-E94A-A486-6705C2A2F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51AEB812-5997-C140-B486-B010DFC9B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D229-D46D-8C4F-9E7E-BF46714ACCE8}" type="datetimeFigureOut">
              <a:rPr lang="es-CO" smtClean="0"/>
              <a:t>5/06/2020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C026DBD4-A664-4041-95EA-1DD0F892F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C3A6C6FF-041D-814E-9EDD-453762C65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E473-87A5-834B-91DC-4251BFCCAA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9070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212A9E6-3F31-D54B-AB94-07160F0E3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F1A26B3A-FE39-5847-8B41-C12B7FC3EA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F714A896-D2AD-014D-806C-4C9F9BA46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27CD04AD-74AF-294F-8AB1-4EC5884BB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D229-D46D-8C4F-9E7E-BF46714ACCE8}" type="datetimeFigureOut">
              <a:rPr lang="es-CO" smtClean="0"/>
              <a:t>5/06/2020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5AB5BC24-7A4F-5A49-A03B-4F9C57F9D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D59B0D76-DAFD-844E-B39F-28BFC4DEA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E473-87A5-834B-91DC-4251BFCCAA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5628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FDE3FCE7-5A0D-C449-8C8A-2E02C41D8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73FA13E9-AD8C-E549-AF82-DC3F7C16C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9A78F022-E960-6A49-9512-5F21B611D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="" xmlns:a16="http://schemas.microsoft.com/office/drawing/2014/main" id="{20055CA6-2CC0-F748-B8A8-18D3CB26EC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="" xmlns:a16="http://schemas.microsoft.com/office/drawing/2014/main" id="{7A78B3B9-D765-8144-9DAA-9C46537B8A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="" xmlns:a16="http://schemas.microsoft.com/office/drawing/2014/main" id="{34B66348-71C9-EA48-8AE7-9F6892FD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D229-D46D-8C4F-9E7E-BF46714ACCE8}" type="datetimeFigureOut">
              <a:rPr lang="es-CO" smtClean="0"/>
              <a:t>5/06/2020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="" xmlns:a16="http://schemas.microsoft.com/office/drawing/2014/main" id="{BEE7D007-FCE6-C049-A2A4-D8975081A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="" xmlns:a16="http://schemas.microsoft.com/office/drawing/2014/main" id="{2155DF00-2374-DE4C-BADD-1D177DAE8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E473-87A5-834B-91DC-4251BFCCAA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3590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0585849-6846-1147-8791-C95571EC7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0E97789C-02D6-294F-8E36-15D1B55F6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D229-D46D-8C4F-9E7E-BF46714ACCE8}" type="datetimeFigureOut">
              <a:rPr lang="es-CO" smtClean="0"/>
              <a:t>5/06/2020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FAB3139C-5B70-C845-8C82-AAF58F4B8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EC827B06-C9E9-A649-ABC8-9445C6E1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E473-87A5-834B-91DC-4251BFCCAA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3313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="" xmlns:a16="http://schemas.microsoft.com/office/drawing/2014/main" id="{08A88A3F-A0A3-0440-B161-E2465218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D229-D46D-8C4F-9E7E-BF46714ACCE8}" type="datetimeFigureOut">
              <a:rPr lang="es-CO" smtClean="0"/>
              <a:t>5/06/2020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="" xmlns:a16="http://schemas.microsoft.com/office/drawing/2014/main" id="{B9D1231D-A831-E34A-9136-32E7ADB05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C1A3750C-989B-BC4C-88CB-CD4248C52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E473-87A5-834B-91DC-4251BFCCAA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8974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68DC4AD-BB7B-9A41-800F-67C65383D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A1AC0B4F-4239-BE44-9F5A-6B63E255E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CE9A49E6-1BFF-874B-982A-A96C23B9C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1E4051EC-4BF5-DD42-9965-4DFD7B6C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D229-D46D-8C4F-9E7E-BF46714ACCE8}" type="datetimeFigureOut">
              <a:rPr lang="es-CO" smtClean="0"/>
              <a:t>5/06/2020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B353E599-A615-614D-8DD0-2D0DD818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3DE56D20-96FA-584B-9599-BCC12EB50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E473-87A5-834B-91DC-4251BFCCAA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4295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BBE6D62-1682-1D4B-A303-154E1F882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="" xmlns:a16="http://schemas.microsoft.com/office/drawing/2014/main" id="{AF27729C-39AC-2844-BD18-DFF42105E8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9C43C68E-2CED-C646-9F5B-5A7D75E76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1598A572-5FF0-D64F-AE35-74F0E8C6C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D229-D46D-8C4F-9E7E-BF46714ACCE8}" type="datetimeFigureOut">
              <a:rPr lang="es-CO" smtClean="0"/>
              <a:t>5/06/2020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92F9F18C-B4FC-4648-BEB7-0BA12A09F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B1CF7B5B-609C-5146-9A21-3031B4779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E473-87A5-834B-91DC-4251BFCCAA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5707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F2D035C-180D-974E-99F9-0C34EA908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BF3CA7A4-ADA2-6D44-BC38-42435FC8D8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3C3490D1-3BA3-D54D-B64D-71E70F14C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D229-D46D-8C4F-9E7E-BF46714ACCE8}" type="datetimeFigureOut">
              <a:rPr lang="es-CO" smtClean="0"/>
              <a:t>5/06/2020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04F5A57D-3488-754C-A256-8199ABB93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78925C10-77A7-BF4C-B9C8-649CAD6FF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E473-87A5-834B-91DC-4251BFCCAA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3873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D72BB703-9761-FE48-A0A1-D3DE28D718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70196363-4230-4F4C-91F2-32C19741C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305C1E6D-DF1C-5B44-8274-7FD36394E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D229-D46D-8C4F-9E7E-BF46714ACCE8}" type="datetimeFigureOut">
              <a:rPr lang="es-CO" smtClean="0"/>
              <a:t>5/06/2020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249E67F6-2BF7-9B4B-AADD-4F87FECFD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241DAE59-FB65-B245-9E62-3B0F9C119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E473-87A5-834B-91DC-4251BFCCAA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1537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="" xmlns:a16="http://schemas.microsoft.com/office/drawing/2014/main" id="{294B5747-3E5A-8145-A87C-152AC044C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89F97777-C0C0-744D-9235-E2E948325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CB8DC3C6-9AB7-B445-8EAA-159AFE140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09D229-D46D-8C4F-9E7E-BF46714ACCE8}" type="datetimeFigureOut">
              <a:rPr lang="es-CO" smtClean="0"/>
              <a:t>5/06/2020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E9CB7EA2-9B6A-6642-8249-E550605E8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3078EEBD-3708-2541-B9DC-B1AE36FE6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AE473-87A5-834B-91DC-4251BFCCAA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2469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="" xmlns:a16="http://schemas.microsoft.com/office/drawing/2014/main" id="{27530C40-F405-A941-9AB6-973BEA42394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="" xmlns:a16="http://schemas.microsoft.com/office/drawing/2014/main" id="{6925C491-8DF4-F54D-8407-D9B3AEE46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537" y="2362910"/>
            <a:ext cx="3729764" cy="125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552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="" xmlns:a16="http://schemas.microsoft.com/office/drawing/2014/main" id="{55EE4204-CAD9-CB4D-B23F-6BA3535067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2 CuadroTexto">
            <a:extLst>
              <a:ext uri="{FF2B5EF4-FFF2-40B4-BE49-F238E27FC236}">
                <a16:creationId xmlns="" xmlns:a16="http://schemas.microsoft.com/office/drawing/2014/main" id="{1B5E8EDD-1EC8-ED4F-8CE7-6694A8AB655A}"/>
              </a:ext>
            </a:extLst>
          </p:cNvPr>
          <p:cNvSpPr txBox="1"/>
          <p:nvPr/>
        </p:nvSpPr>
        <p:spPr>
          <a:xfrm>
            <a:off x="847921" y="2174660"/>
            <a:ext cx="34247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rgbClr val="005387"/>
                </a:solidFill>
                <a:latin typeface="Trebuchet MS" panose="020B0703020202090204" pitchFamily="34" charset="0"/>
              </a:rPr>
              <a:t>Aplicaciones</a:t>
            </a:r>
            <a:endParaRPr lang="es-CO" sz="3200" b="1" dirty="0">
              <a:solidFill>
                <a:srgbClr val="005387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23" name="Conector recto 22">
            <a:extLst>
              <a:ext uri="{FF2B5EF4-FFF2-40B4-BE49-F238E27FC236}">
                <a16:creationId xmlns="" xmlns:a16="http://schemas.microsoft.com/office/drawing/2014/main" id="{14D98174-3D43-C043-B4B4-720DE2E89A0C}"/>
              </a:ext>
            </a:extLst>
          </p:cNvPr>
          <p:cNvCxnSpPr/>
          <p:nvPr/>
        </p:nvCxnSpPr>
        <p:spPr>
          <a:xfrm>
            <a:off x="4259766" y="802888"/>
            <a:ext cx="0" cy="5497551"/>
          </a:xfrm>
          <a:prstGeom prst="line">
            <a:avLst/>
          </a:prstGeom>
          <a:ln w="22225" cap="rnd">
            <a:solidFill>
              <a:srgbClr val="005387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Imagen 24">
            <a:extLst>
              <a:ext uri="{FF2B5EF4-FFF2-40B4-BE49-F238E27FC236}">
                <a16:creationId xmlns="" xmlns:a16="http://schemas.microsoft.com/office/drawing/2014/main" id="{32290EE2-2725-EA49-8EC5-04FBB5D69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4965" y="373178"/>
            <a:ext cx="1473867" cy="495696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5039360" y="1090287"/>
            <a:ext cx="46736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5387"/>
                </a:solidFill>
                <a:latin typeface="Trebuchet MS" panose="020B0703020202090204" pitchFamily="34" charset="0"/>
              </a:rPr>
              <a:t>Encuesta de servicio</a:t>
            </a:r>
          </a:p>
          <a:p>
            <a:endParaRPr lang="es-ES" sz="2800" dirty="0">
              <a:solidFill>
                <a:srgbClr val="005387"/>
              </a:solidFill>
              <a:latin typeface="Trebuchet MS" panose="020B070302020209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sz="2800" dirty="0">
                <a:solidFill>
                  <a:srgbClr val="005387"/>
                </a:solidFill>
                <a:latin typeface="Trebuchet MS" panose="020B0703020202090204" pitchFamily="34" charset="0"/>
              </a:rPr>
              <a:t>Recolección de Tóner</a:t>
            </a:r>
          </a:p>
          <a:p>
            <a:endParaRPr lang="es-ES" sz="2800" dirty="0">
              <a:solidFill>
                <a:srgbClr val="005387"/>
              </a:solidFill>
              <a:latin typeface="Trebuchet MS" panose="020B070302020209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sz="2800" dirty="0">
                <a:solidFill>
                  <a:srgbClr val="005387"/>
                </a:solidFill>
                <a:latin typeface="Trebuchet MS" panose="020B0703020202090204" pitchFamily="34" charset="0"/>
              </a:rPr>
              <a:t>Capacitación</a:t>
            </a:r>
          </a:p>
          <a:p>
            <a:endParaRPr lang="es-ES" sz="2800" dirty="0">
              <a:solidFill>
                <a:srgbClr val="005387"/>
              </a:solidFill>
              <a:latin typeface="Trebuchet MS" panose="020B070302020209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sz="2800" dirty="0">
                <a:solidFill>
                  <a:srgbClr val="005387"/>
                </a:solidFill>
                <a:latin typeface="Trebuchet MS" panose="020B0703020202090204" pitchFamily="34" charset="0"/>
              </a:rPr>
              <a:t>Certificaciones Laborales</a:t>
            </a:r>
          </a:p>
          <a:p>
            <a:endParaRPr lang="es-ES" sz="2800" dirty="0">
              <a:solidFill>
                <a:srgbClr val="005387"/>
              </a:solidFill>
              <a:latin typeface="Trebuchet MS" panose="020B070302020209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sz="2800" dirty="0">
                <a:solidFill>
                  <a:srgbClr val="005387"/>
                </a:solidFill>
                <a:latin typeface="Trebuchet MS" panose="020B0703020202090204" pitchFamily="34" charset="0"/>
              </a:rPr>
              <a:t>Carpeta Compartida</a:t>
            </a:r>
          </a:p>
          <a:p>
            <a:endParaRPr lang="es-ES" sz="2800" dirty="0">
              <a:solidFill>
                <a:srgbClr val="005387"/>
              </a:solidFill>
              <a:latin typeface="Trebuchet MS" panose="020B070302020209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sz="2800" dirty="0">
                <a:solidFill>
                  <a:srgbClr val="005387"/>
                </a:solidFill>
                <a:latin typeface="Trebuchet MS" panose="020B0703020202090204" pitchFamily="34" charset="0"/>
              </a:rPr>
              <a:t>Digitalización a red </a:t>
            </a:r>
            <a:endParaRPr lang="es-ES" sz="2800" dirty="0">
              <a:solidFill>
                <a:srgbClr val="005387"/>
              </a:solidFill>
              <a:latin typeface="Trebuchet MS" panose="020B0703020202090204" pitchFamily="34" charset="0"/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3839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="" xmlns:a16="http://schemas.microsoft.com/office/drawing/2014/main" id="{55EE4204-CAD9-CB4D-B23F-6BA3535067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="" xmlns:a16="http://schemas.microsoft.com/office/drawing/2014/main" id="{32290EE2-2725-EA49-8EC5-04FBB5D69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4965" y="373178"/>
            <a:ext cx="1473867" cy="49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02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="" xmlns:a16="http://schemas.microsoft.com/office/drawing/2014/main" id="{40245B94-61D5-5F46-8753-A92F8ABA3D2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643678" y="338574"/>
            <a:ext cx="41296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rgbClr val="005387"/>
                </a:solidFill>
                <a:latin typeface="Trebuchet MS" panose="020B0703020202090204" pitchFamily="34" charset="0"/>
              </a:rPr>
              <a:t>Encuesta de servicio</a:t>
            </a:r>
          </a:p>
        </p:txBody>
      </p:sp>
      <p:sp>
        <p:nvSpPr>
          <p:cNvPr id="4" name="Rectángulo 3"/>
          <p:cNvSpPr/>
          <p:nvPr/>
        </p:nvSpPr>
        <p:spPr>
          <a:xfrm>
            <a:off x="643678" y="141659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ES" dirty="0">
                <a:solidFill>
                  <a:srgbClr val="005387"/>
                </a:solidFill>
                <a:latin typeface="Trebuchet MS" panose="020B0703020202090204" pitchFamily="34" charset="0"/>
              </a:rPr>
              <a:t>Su </a:t>
            </a:r>
            <a:r>
              <a:rPr lang="es-ES" dirty="0" smtClean="0">
                <a:solidFill>
                  <a:srgbClr val="005387"/>
                </a:solidFill>
                <a:latin typeface="Trebuchet MS" panose="020B0703020202090204" pitchFamily="34" charset="0"/>
              </a:rPr>
              <a:t>funcionamiento </a:t>
            </a:r>
            <a:r>
              <a:rPr lang="es-ES" dirty="0">
                <a:solidFill>
                  <a:srgbClr val="005387"/>
                </a:solidFill>
                <a:latin typeface="Trebuchet MS" panose="020B0703020202090204" pitchFamily="34" charset="0"/>
              </a:rPr>
              <a:t>se basa en la recolección de </a:t>
            </a:r>
            <a:r>
              <a:rPr lang="es-ES" dirty="0" smtClean="0">
                <a:solidFill>
                  <a:srgbClr val="005387"/>
                </a:solidFill>
                <a:latin typeface="Trebuchet MS" panose="020B0703020202090204" pitchFamily="34" charset="0"/>
              </a:rPr>
              <a:t>información </a:t>
            </a:r>
            <a:r>
              <a:rPr lang="es-ES" dirty="0">
                <a:solidFill>
                  <a:srgbClr val="005387"/>
                </a:solidFill>
                <a:latin typeface="Trebuchet MS" panose="020B0703020202090204" pitchFamily="34" charset="0"/>
              </a:rPr>
              <a:t>concerniente a un entorno particular, en este caso el nivel de servicio que tiene las impresoras y la percepción de su funcionamiento </a:t>
            </a:r>
            <a:endParaRPr lang="es-CO" dirty="0">
              <a:solidFill>
                <a:srgbClr val="005387"/>
              </a:solidFill>
              <a:latin typeface="Trebuchet MS" panose="020B070302020209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/>
          <a:srcRect l="2915" t="5298" r="1516"/>
          <a:stretch/>
        </p:blipFill>
        <p:spPr>
          <a:xfrm>
            <a:off x="1048619" y="2872606"/>
            <a:ext cx="4165600" cy="3054085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="" xmlns:a16="http://schemas.microsoft.com/office/drawing/2014/main" id="{298DDB58-6ACC-5A4B-8E2E-1A69A02108B2}"/>
              </a:ext>
            </a:extLst>
          </p:cNvPr>
          <p:cNvGrpSpPr/>
          <p:nvPr/>
        </p:nvGrpSpPr>
        <p:grpSpPr>
          <a:xfrm>
            <a:off x="10237026" y="374801"/>
            <a:ext cx="1628235" cy="492212"/>
            <a:chOff x="9972258" y="434327"/>
            <a:chExt cx="1936163" cy="585298"/>
          </a:xfrm>
        </p:grpSpPr>
        <p:pic>
          <p:nvPicPr>
            <p:cNvPr id="9" name="Imagen 8">
              <a:extLst>
                <a:ext uri="{FF2B5EF4-FFF2-40B4-BE49-F238E27FC236}">
                  <a16:creationId xmlns="" xmlns:a16="http://schemas.microsoft.com/office/drawing/2014/main" id="{C8BD122F-CFA4-1E42-80CB-BF98EBE8A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55821" y="435425"/>
              <a:ext cx="1752600" cy="584200"/>
            </a:xfrm>
            <a:prstGeom prst="rect">
              <a:avLst/>
            </a:prstGeom>
          </p:spPr>
        </p:pic>
        <p:cxnSp>
          <p:nvCxnSpPr>
            <p:cNvPr id="10" name="Conector recto 9">
              <a:extLst>
                <a:ext uri="{FF2B5EF4-FFF2-40B4-BE49-F238E27FC236}">
                  <a16:creationId xmlns="" xmlns:a16="http://schemas.microsoft.com/office/drawing/2014/main" id="{AEBE31C8-D8A6-6649-9249-B5832DF94FB1}"/>
                </a:ext>
              </a:extLst>
            </p:cNvPr>
            <p:cNvCxnSpPr/>
            <p:nvPr/>
          </p:nvCxnSpPr>
          <p:spPr>
            <a:xfrm>
              <a:off x="9972258" y="434327"/>
              <a:ext cx="0" cy="585298"/>
            </a:xfrm>
            <a:prstGeom prst="line">
              <a:avLst/>
            </a:prstGeom>
            <a:ln w="19050" cap="rnd">
              <a:solidFill>
                <a:srgbClr val="00538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69364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="" xmlns:a16="http://schemas.microsoft.com/office/drawing/2014/main" id="{40245B94-61D5-5F46-8753-A92F8ABA3D2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457200" y="92249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ES" dirty="0">
                <a:solidFill>
                  <a:srgbClr val="005387"/>
                </a:solidFill>
                <a:latin typeface="Trebuchet MS" panose="020B0703020202090204" pitchFamily="34" charset="0"/>
              </a:rPr>
              <a:t>Cuenta también con una pantalla en el navegador que permite consultar los datos en tiempo real, dando a conocer una proyección de lo que sucede con el servicio , además de permitir el descargue de los gráficos para sus presentaciones y demás.</a:t>
            </a:r>
            <a:endParaRPr lang="es-CO" dirty="0">
              <a:solidFill>
                <a:srgbClr val="005387"/>
              </a:solidFill>
              <a:latin typeface="Trebuchet MS" panose="020B070302020209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2799080"/>
            <a:ext cx="5781040" cy="2989060"/>
          </a:xfrm>
          <a:prstGeom prst="rect">
            <a:avLst/>
          </a:prstGeom>
        </p:spPr>
      </p:pic>
      <p:grpSp>
        <p:nvGrpSpPr>
          <p:cNvPr id="5" name="Grupo 4">
            <a:extLst>
              <a:ext uri="{FF2B5EF4-FFF2-40B4-BE49-F238E27FC236}">
                <a16:creationId xmlns="" xmlns:a16="http://schemas.microsoft.com/office/drawing/2014/main" id="{298DDB58-6ACC-5A4B-8E2E-1A69A02108B2}"/>
              </a:ext>
            </a:extLst>
          </p:cNvPr>
          <p:cNvGrpSpPr/>
          <p:nvPr/>
        </p:nvGrpSpPr>
        <p:grpSpPr>
          <a:xfrm>
            <a:off x="10237026" y="374801"/>
            <a:ext cx="1628235" cy="492212"/>
            <a:chOff x="9972258" y="434327"/>
            <a:chExt cx="1936163" cy="585298"/>
          </a:xfrm>
        </p:grpSpPr>
        <p:pic>
          <p:nvPicPr>
            <p:cNvPr id="6" name="Imagen 5">
              <a:extLst>
                <a:ext uri="{FF2B5EF4-FFF2-40B4-BE49-F238E27FC236}">
                  <a16:creationId xmlns="" xmlns:a16="http://schemas.microsoft.com/office/drawing/2014/main" id="{C8BD122F-CFA4-1E42-80CB-BF98EBE8A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55821" y="435425"/>
              <a:ext cx="1752600" cy="584200"/>
            </a:xfrm>
            <a:prstGeom prst="rect">
              <a:avLst/>
            </a:prstGeom>
          </p:spPr>
        </p:pic>
        <p:cxnSp>
          <p:nvCxnSpPr>
            <p:cNvPr id="7" name="Conector recto 6">
              <a:extLst>
                <a:ext uri="{FF2B5EF4-FFF2-40B4-BE49-F238E27FC236}">
                  <a16:creationId xmlns="" xmlns:a16="http://schemas.microsoft.com/office/drawing/2014/main" id="{AEBE31C8-D8A6-6649-9249-B5832DF94FB1}"/>
                </a:ext>
              </a:extLst>
            </p:cNvPr>
            <p:cNvCxnSpPr/>
            <p:nvPr/>
          </p:nvCxnSpPr>
          <p:spPr>
            <a:xfrm>
              <a:off x="9972258" y="434327"/>
              <a:ext cx="0" cy="585298"/>
            </a:xfrm>
            <a:prstGeom prst="line">
              <a:avLst/>
            </a:prstGeom>
            <a:ln w="19050" cap="rnd">
              <a:solidFill>
                <a:srgbClr val="00538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018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="" xmlns:a16="http://schemas.microsoft.com/office/drawing/2014/main" id="{163511AE-F72F-7E44-9035-C65C042F4BD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1534700" y="633214"/>
            <a:ext cx="43370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rgbClr val="005387"/>
                </a:solidFill>
                <a:latin typeface="Trebuchet MS" panose="020B0703020202090204" pitchFamily="34" charset="0"/>
              </a:rPr>
              <a:t>Recolección de Tóner</a:t>
            </a:r>
          </a:p>
        </p:txBody>
      </p:sp>
      <p:sp>
        <p:nvSpPr>
          <p:cNvPr id="4" name="Rectángulo 3"/>
          <p:cNvSpPr/>
          <p:nvPr/>
        </p:nvSpPr>
        <p:spPr>
          <a:xfrm>
            <a:off x="741680" y="164385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ES" dirty="0">
                <a:solidFill>
                  <a:srgbClr val="005387"/>
                </a:solidFill>
                <a:latin typeface="Trebuchet MS" panose="020B0703020202090204" pitchFamily="34" charset="0"/>
              </a:rPr>
              <a:t>Es una aplicación en la cual el usuario podrá ingresar la cantidad de suministros (tóner vacíos) que se encuentran en el área y que estén ocupando un espacio en ella, adicional, contribuirá con el proceso de disposición final de dichos suministros.</a:t>
            </a:r>
            <a:endParaRPr lang="es-CO" dirty="0">
              <a:solidFill>
                <a:srgbClr val="005387"/>
              </a:solidFill>
              <a:latin typeface="Trebuchet MS" panose="020B070302020209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2552" t="2391" r="2148" b="2485"/>
          <a:stretch/>
        </p:blipFill>
        <p:spPr>
          <a:xfrm>
            <a:off x="1696719" y="3403600"/>
            <a:ext cx="3881121" cy="2722880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="" xmlns:a16="http://schemas.microsoft.com/office/drawing/2014/main" id="{298DDB58-6ACC-5A4B-8E2E-1A69A02108B2}"/>
              </a:ext>
            </a:extLst>
          </p:cNvPr>
          <p:cNvGrpSpPr/>
          <p:nvPr/>
        </p:nvGrpSpPr>
        <p:grpSpPr>
          <a:xfrm>
            <a:off x="10237026" y="374801"/>
            <a:ext cx="1628235" cy="492212"/>
            <a:chOff x="9972258" y="434327"/>
            <a:chExt cx="1936163" cy="585298"/>
          </a:xfrm>
        </p:grpSpPr>
        <p:pic>
          <p:nvPicPr>
            <p:cNvPr id="10" name="Imagen 9">
              <a:extLst>
                <a:ext uri="{FF2B5EF4-FFF2-40B4-BE49-F238E27FC236}">
                  <a16:creationId xmlns="" xmlns:a16="http://schemas.microsoft.com/office/drawing/2014/main" id="{C8BD122F-CFA4-1E42-80CB-BF98EBE8A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55821" y="435425"/>
              <a:ext cx="1752600" cy="584200"/>
            </a:xfrm>
            <a:prstGeom prst="rect">
              <a:avLst/>
            </a:prstGeom>
          </p:spPr>
        </p:pic>
        <p:cxnSp>
          <p:nvCxnSpPr>
            <p:cNvPr id="11" name="Conector recto 10">
              <a:extLst>
                <a:ext uri="{FF2B5EF4-FFF2-40B4-BE49-F238E27FC236}">
                  <a16:creationId xmlns="" xmlns:a16="http://schemas.microsoft.com/office/drawing/2014/main" id="{AEBE31C8-D8A6-6649-9249-B5832DF94FB1}"/>
                </a:ext>
              </a:extLst>
            </p:cNvPr>
            <p:cNvCxnSpPr/>
            <p:nvPr/>
          </p:nvCxnSpPr>
          <p:spPr>
            <a:xfrm>
              <a:off x="9972258" y="434327"/>
              <a:ext cx="0" cy="585298"/>
            </a:xfrm>
            <a:prstGeom prst="line">
              <a:avLst/>
            </a:prstGeom>
            <a:ln w="19050" cap="rnd">
              <a:solidFill>
                <a:srgbClr val="00538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371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="" xmlns:a16="http://schemas.microsoft.com/office/drawing/2014/main" id="{DAD74DD2-DF87-7B40-ABFA-0BAAAF09E46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6933" y="-14798"/>
            <a:ext cx="12192000" cy="6906663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4794756" y="377991"/>
            <a:ext cx="26308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rgbClr val="005387"/>
                </a:solidFill>
                <a:latin typeface="Trebuchet MS" panose="020B0703020202090204" pitchFamily="34" charset="0"/>
              </a:rPr>
              <a:t>Capacitación</a:t>
            </a:r>
          </a:p>
        </p:txBody>
      </p:sp>
      <p:sp>
        <p:nvSpPr>
          <p:cNvPr id="4" name="Rectángulo 3"/>
          <p:cNvSpPr/>
          <p:nvPr/>
        </p:nvSpPr>
        <p:spPr>
          <a:xfrm>
            <a:off x="4697721" y="1384469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ES" dirty="0">
                <a:solidFill>
                  <a:srgbClr val="005387"/>
                </a:solidFill>
                <a:latin typeface="Trebuchet MS" panose="020B0703020202090204" pitchFamily="34" charset="0"/>
              </a:rPr>
              <a:t>Es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>
                <a:solidFill>
                  <a:srgbClr val="005387"/>
                </a:solidFill>
                <a:latin typeface="Trebuchet MS" panose="020B0703020202090204" pitchFamily="34" charset="0"/>
              </a:rPr>
              <a:t>una aplicación en la cual los usuarios podrán conocer más sobre el uso adecuado de la multifuncional y con ello evitar posibles fallas. Esta aplicación cuenta con una serie de imágenes, las cuales ayudarán a tener una mayor comprensión sobre las buenas prácticas de impresión.</a:t>
            </a:r>
            <a:endParaRPr lang="es-CO" dirty="0">
              <a:solidFill>
                <a:srgbClr val="005387"/>
              </a:solidFill>
              <a:latin typeface="Trebuchet MS" panose="020B070302020209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l="5594" t="3519" r="2889" b="3825"/>
          <a:stretch/>
        </p:blipFill>
        <p:spPr>
          <a:xfrm>
            <a:off x="5817792" y="3642986"/>
            <a:ext cx="3855858" cy="2744687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="" xmlns:a16="http://schemas.microsoft.com/office/drawing/2014/main" id="{298DDB58-6ACC-5A4B-8E2E-1A69A02108B2}"/>
              </a:ext>
            </a:extLst>
          </p:cNvPr>
          <p:cNvGrpSpPr/>
          <p:nvPr/>
        </p:nvGrpSpPr>
        <p:grpSpPr>
          <a:xfrm>
            <a:off x="10237026" y="374801"/>
            <a:ext cx="1628235" cy="492212"/>
            <a:chOff x="9972258" y="434327"/>
            <a:chExt cx="1936163" cy="585298"/>
          </a:xfrm>
        </p:grpSpPr>
        <p:pic>
          <p:nvPicPr>
            <p:cNvPr id="7" name="Imagen 6">
              <a:extLst>
                <a:ext uri="{FF2B5EF4-FFF2-40B4-BE49-F238E27FC236}">
                  <a16:creationId xmlns="" xmlns:a16="http://schemas.microsoft.com/office/drawing/2014/main" id="{C8BD122F-CFA4-1E42-80CB-BF98EBE8A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55821" y="435425"/>
              <a:ext cx="1752600" cy="584200"/>
            </a:xfrm>
            <a:prstGeom prst="rect">
              <a:avLst/>
            </a:prstGeom>
          </p:spPr>
        </p:pic>
        <p:cxnSp>
          <p:nvCxnSpPr>
            <p:cNvPr id="8" name="Conector recto 7">
              <a:extLst>
                <a:ext uri="{FF2B5EF4-FFF2-40B4-BE49-F238E27FC236}">
                  <a16:creationId xmlns="" xmlns:a16="http://schemas.microsoft.com/office/drawing/2014/main" id="{AEBE31C8-D8A6-6649-9249-B5832DF94FB1}"/>
                </a:ext>
              </a:extLst>
            </p:cNvPr>
            <p:cNvCxnSpPr/>
            <p:nvPr/>
          </p:nvCxnSpPr>
          <p:spPr>
            <a:xfrm>
              <a:off x="9972258" y="434327"/>
              <a:ext cx="0" cy="585298"/>
            </a:xfrm>
            <a:prstGeom prst="line">
              <a:avLst/>
            </a:prstGeom>
            <a:ln w="19050" cap="rnd">
              <a:solidFill>
                <a:srgbClr val="00538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83711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="" xmlns:a16="http://schemas.microsoft.com/office/drawing/2014/main" id="{2DB212AD-8DFB-0B44-B0D9-DD429AB0A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" y="5097"/>
            <a:ext cx="12188674" cy="685800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="" xmlns:a16="http://schemas.microsoft.com/office/drawing/2014/main" id="{D233BEBC-5C75-BD4F-9AAB-F1510BF30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" y="1388806"/>
            <a:ext cx="12192000" cy="4814675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="" xmlns:a16="http://schemas.microsoft.com/office/drawing/2014/main" id="{298DDB58-6ACC-5A4B-8E2E-1A69A02108B2}"/>
              </a:ext>
            </a:extLst>
          </p:cNvPr>
          <p:cNvGrpSpPr/>
          <p:nvPr/>
        </p:nvGrpSpPr>
        <p:grpSpPr>
          <a:xfrm>
            <a:off x="10237026" y="374801"/>
            <a:ext cx="1628235" cy="492212"/>
            <a:chOff x="9972258" y="434327"/>
            <a:chExt cx="1936163" cy="585298"/>
          </a:xfrm>
        </p:grpSpPr>
        <p:pic>
          <p:nvPicPr>
            <p:cNvPr id="5" name="Imagen 4">
              <a:extLst>
                <a:ext uri="{FF2B5EF4-FFF2-40B4-BE49-F238E27FC236}">
                  <a16:creationId xmlns="" xmlns:a16="http://schemas.microsoft.com/office/drawing/2014/main" id="{C8BD122F-CFA4-1E42-80CB-BF98EBE8A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55821" y="435425"/>
              <a:ext cx="1752600" cy="584200"/>
            </a:xfrm>
            <a:prstGeom prst="rect">
              <a:avLst/>
            </a:prstGeom>
          </p:spPr>
        </p:pic>
        <p:cxnSp>
          <p:nvCxnSpPr>
            <p:cNvPr id="6" name="Conector recto 5">
              <a:extLst>
                <a:ext uri="{FF2B5EF4-FFF2-40B4-BE49-F238E27FC236}">
                  <a16:creationId xmlns="" xmlns:a16="http://schemas.microsoft.com/office/drawing/2014/main" id="{AEBE31C8-D8A6-6649-9249-B5832DF94FB1}"/>
                </a:ext>
              </a:extLst>
            </p:cNvPr>
            <p:cNvCxnSpPr/>
            <p:nvPr/>
          </p:nvCxnSpPr>
          <p:spPr>
            <a:xfrm>
              <a:off x="9972258" y="434327"/>
              <a:ext cx="0" cy="585298"/>
            </a:xfrm>
            <a:prstGeom prst="line">
              <a:avLst/>
            </a:prstGeom>
            <a:ln w="19050" cap="rnd">
              <a:solidFill>
                <a:srgbClr val="00538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ángulo 7"/>
          <p:cNvSpPr/>
          <p:nvPr/>
        </p:nvSpPr>
        <p:spPr>
          <a:xfrm>
            <a:off x="1726913" y="429839"/>
            <a:ext cx="50064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rgbClr val="005387"/>
                </a:solidFill>
                <a:latin typeface="Trebuchet MS" panose="020B0703020202090204" pitchFamily="34" charset="0"/>
              </a:rPr>
              <a:t>Certificaciones Laborales</a:t>
            </a:r>
          </a:p>
        </p:txBody>
      </p:sp>
      <p:sp>
        <p:nvSpPr>
          <p:cNvPr id="9" name="Rectángulo 8"/>
          <p:cNvSpPr/>
          <p:nvPr/>
        </p:nvSpPr>
        <p:spPr>
          <a:xfrm>
            <a:off x="934720" y="155241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ES" dirty="0">
                <a:solidFill>
                  <a:srgbClr val="005387"/>
                </a:solidFill>
                <a:latin typeface="Trebuchet MS" panose="020B0703020202090204" pitchFamily="34" charset="0"/>
              </a:rPr>
              <a:t>Es una aplicación la cual podrá enlazarse a una base de datos y extraer la información necesaria para generar algún tipo de documento, carta o certificado que sean necesarios para cualquier proceso interno o externo de la empresa según su necesidad.</a:t>
            </a:r>
            <a:endParaRPr lang="es-CO" dirty="0">
              <a:solidFill>
                <a:srgbClr val="005387"/>
              </a:solidFill>
              <a:latin typeface="Trebuchet MS" panose="020B0703020202090204" pitchFamily="34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5"/>
          <a:srcRect l="1673" t="4692" r="-1"/>
          <a:stretch/>
        </p:blipFill>
        <p:spPr>
          <a:xfrm>
            <a:off x="3738880" y="3619394"/>
            <a:ext cx="3787956" cy="273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68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="" xmlns:a16="http://schemas.microsoft.com/office/drawing/2014/main" id="{40245B94-61D5-5F46-8753-A92F8ABA3D2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="" xmlns:a16="http://schemas.microsoft.com/office/drawing/2014/main" id="{298DDB58-6ACC-5A4B-8E2E-1A69A02108B2}"/>
              </a:ext>
            </a:extLst>
          </p:cNvPr>
          <p:cNvGrpSpPr/>
          <p:nvPr/>
        </p:nvGrpSpPr>
        <p:grpSpPr>
          <a:xfrm>
            <a:off x="10237026" y="374801"/>
            <a:ext cx="1628235" cy="492212"/>
            <a:chOff x="9972258" y="434327"/>
            <a:chExt cx="1936163" cy="585298"/>
          </a:xfrm>
        </p:grpSpPr>
        <p:pic>
          <p:nvPicPr>
            <p:cNvPr id="4" name="Imagen 3">
              <a:extLst>
                <a:ext uri="{FF2B5EF4-FFF2-40B4-BE49-F238E27FC236}">
                  <a16:creationId xmlns="" xmlns:a16="http://schemas.microsoft.com/office/drawing/2014/main" id="{C8BD122F-CFA4-1E42-80CB-BF98EBE8A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55821" y="435425"/>
              <a:ext cx="1752600" cy="584200"/>
            </a:xfrm>
            <a:prstGeom prst="rect">
              <a:avLst/>
            </a:prstGeom>
          </p:spPr>
        </p:pic>
        <p:cxnSp>
          <p:nvCxnSpPr>
            <p:cNvPr id="5" name="Conector recto 4">
              <a:extLst>
                <a:ext uri="{FF2B5EF4-FFF2-40B4-BE49-F238E27FC236}">
                  <a16:creationId xmlns="" xmlns:a16="http://schemas.microsoft.com/office/drawing/2014/main" id="{AEBE31C8-D8A6-6649-9249-B5832DF94FB1}"/>
                </a:ext>
              </a:extLst>
            </p:cNvPr>
            <p:cNvCxnSpPr/>
            <p:nvPr/>
          </p:nvCxnSpPr>
          <p:spPr>
            <a:xfrm>
              <a:off x="9972258" y="434327"/>
              <a:ext cx="0" cy="585298"/>
            </a:xfrm>
            <a:prstGeom prst="line">
              <a:avLst/>
            </a:prstGeom>
            <a:ln w="19050" cap="rnd">
              <a:solidFill>
                <a:srgbClr val="00538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ángulo 6"/>
          <p:cNvSpPr/>
          <p:nvPr/>
        </p:nvSpPr>
        <p:spPr>
          <a:xfrm>
            <a:off x="881750" y="321656"/>
            <a:ext cx="40190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rgbClr val="005387"/>
                </a:solidFill>
                <a:latin typeface="Trebuchet MS" panose="020B0703020202090204" pitchFamily="34" charset="0"/>
              </a:rPr>
              <a:t>Carpeta Compartida</a:t>
            </a:r>
          </a:p>
        </p:txBody>
      </p:sp>
      <p:sp>
        <p:nvSpPr>
          <p:cNvPr id="8" name="Rectángulo 7"/>
          <p:cNvSpPr/>
          <p:nvPr/>
        </p:nvSpPr>
        <p:spPr>
          <a:xfrm>
            <a:off x="294640" y="165669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ES" dirty="0">
                <a:solidFill>
                  <a:srgbClr val="005387"/>
                </a:solidFill>
                <a:latin typeface="Trebuchet MS" panose="020B0703020202090204" pitchFamily="34" charset="0"/>
              </a:rPr>
              <a:t>Creada para gestionar diferentes documentos según la necesidad del cliente, donde se listan y posteriormente se pueden imprimir, guardando un registro de los documentos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s-CO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4"/>
          <a:srcRect l="1834" t="3093" r="1217"/>
          <a:stretch/>
        </p:blipFill>
        <p:spPr>
          <a:xfrm>
            <a:off x="1188721" y="3322320"/>
            <a:ext cx="4094480" cy="294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99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="" xmlns:a16="http://schemas.microsoft.com/office/drawing/2014/main" id="{163511AE-F72F-7E44-9035-C65C042F4BD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="" xmlns:a16="http://schemas.microsoft.com/office/drawing/2014/main" id="{298DDB58-6ACC-5A4B-8E2E-1A69A02108B2}"/>
              </a:ext>
            </a:extLst>
          </p:cNvPr>
          <p:cNvGrpSpPr/>
          <p:nvPr/>
        </p:nvGrpSpPr>
        <p:grpSpPr>
          <a:xfrm>
            <a:off x="10237026" y="374801"/>
            <a:ext cx="1628235" cy="492212"/>
            <a:chOff x="9972258" y="434327"/>
            <a:chExt cx="1936163" cy="585298"/>
          </a:xfrm>
        </p:grpSpPr>
        <p:pic>
          <p:nvPicPr>
            <p:cNvPr id="4" name="Imagen 3">
              <a:extLst>
                <a:ext uri="{FF2B5EF4-FFF2-40B4-BE49-F238E27FC236}">
                  <a16:creationId xmlns="" xmlns:a16="http://schemas.microsoft.com/office/drawing/2014/main" id="{C8BD122F-CFA4-1E42-80CB-BF98EBE8A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55821" y="435425"/>
              <a:ext cx="1752600" cy="584200"/>
            </a:xfrm>
            <a:prstGeom prst="rect">
              <a:avLst/>
            </a:prstGeom>
          </p:spPr>
        </p:pic>
        <p:cxnSp>
          <p:nvCxnSpPr>
            <p:cNvPr id="5" name="Conector recto 4">
              <a:extLst>
                <a:ext uri="{FF2B5EF4-FFF2-40B4-BE49-F238E27FC236}">
                  <a16:creationId xmlns="" xmlns:a16="http://schemas.microsoft.com/office/drawing/2014/main" id="{AEBE31C8-D8A6-6649-9249-B5832DF94FB1}"/>
                </a:ext>
              </a:extLst>
            </p:cNvPr>
            <p:cNvCxnSpPr/>
            <p:nvPr/>
          </p:nvCxnSpPr>
          <p:spPr>
            <a:xfrm>
              <a:off x="9972258" y="434327"/>
              <a:ext cx="0" cy="585298"/>
            </a:xfrm>
            <a:prstGeom prst="line">
              <a:avLst/>
            </a:prstGeom>
            <a:ln w="19050" cap="rnd">
              <a:solidFill>
                <a:srgbClr val="00538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ángulo 6"/>
          <p:cNvSpPr/>
          <p:nvPr/>
        </p:nvSpPr>
        <p:spPr>
          <a:xfrm>
            <a:off x="2419868" y="726714"/>
            <a:ext cx="40030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rgbClr val="005387"/>
                </a:solidFill>
                <a:latin typeface="Trebuchet MS" panose="020B0703020202090204" pitchFamily="34" charset="0"/>
              </a:rPr>
              <a:t>Digitalización a red </a:t>
            </a:r>
          </a:p>
        </p:txBody>
      </p:sp>
      <p:sp>
        <p:nvSpPr>
          <p:cNvPr id="8" name="Rectángulo 7"/>
          <p:cNvSpPr/>
          <p:nvPr/>
        </p:nvSpPr>
        <p:spPr>
          <a:xfrm>
            <a:off x="1249680" y="170281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CO" dirty="0">
                <a:solidFill>
                  <a:srgbClr val="005387"/>
                </a:solidFill>
                <a:latin typeface="Trebuchet MS" panose="020B0703020202090204" pitchFamily="34" charset="0"/>
              </a:rPr>
              <a:t>Aplicación que gestiona flujos de trabajo de digitalización, obteniendo capacidades adicionales como: corrección de bordes, eliminación de páginas en blanco y confirmación de eventos por correo electrónico.  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4"/>
          <a:srcRect l="1596" t="2841" r="1123"/>
          <a:stretch/>
        </p:blipFill>
        <p:spPr>
          <a:xfrm>
            <a:off x="2275840" y="3383280"/>
            <a:ext cx="4226560" cy="303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021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="" xmlns:a16="http://schemas.microsoft.com/office/drawing/2014/main" id="{0004B35D-D74B-CF47-8802-BB931F19D26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="" xmlns:a16="http://schemas.microsoft.com/office/drawing/2014/main" id="{2C146443-5913-7F4F-AC66-AF5B7E5281BC}"/>
              </a:ext>
            </a:extLst>
          </p:cNvPr>
          <p:cNvSpPr txBox="1">
            <a:spLocks/>
          </p:cNvSpPr>
          <p:nvPr/>
        </p:nvSpPr>
        <p:spPr>
          <a:xfrm>
            <a:off x="4425881" y="2543175"/>
            <a:ext cx="3340238" cy="88582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Verdana" pitchFamily="34" charset="0"/>
                <a:cs typeface="Verdana" pitchFamily="34" charset="0"/>
              </a:rPr>
              <a:t>¡Gracias!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="" xmlns:a16="http://schemas.microsoft.com/office/drawing/2014/main" id="{7861F8F9-AE32-C34A-90A2-EF0D54BF7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573" y="373178"/>
            <a:ext cx="3020259" cy="101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6384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12096</TotalTime>
  <Words>304</Words>
  <Application>Microsoft Office PowerPoint</Application>
  <PresentationFormat>Panorámica</PresentationFormat>
  <Paragraphs>26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Trebuchet MS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Cesar Velez</dc:creator>
  <cp:lastModifiedBy>Sanchez Mahecha Esneyder</cp:lastModifiedBy>
  <cp:revision>87</cp:revision>
  <cp:lastPrinted>2019-09-17T17:10:59Z</cp:lastPrinted>
  <dcterms:created xsi:type="dcterms:W3CDTF">2019-09-16T13:57:08Z</dcterms:created>
  <dcterms:modified xsi:type="dcterms:W3CDTF">2020-06-05T15:40:19Z</dcterms:modified>
</cp:coreProperties>
</file>